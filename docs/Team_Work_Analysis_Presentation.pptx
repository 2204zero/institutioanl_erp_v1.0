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napToGrid="0" snapToObjects="1">
      <p:cViewPr varScale="1">
        <p:scale>
          <a:sx n="82" d="100"/>
          <a:sy n="82" d="100"/>
        </p:scale>
        <p:origin x="-691" y="-9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pPr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011680"/>
            <a:ext cx="8219494" cy="18569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 b="1">
                <a:solidFill>
                  <a:srgbClr val="1B365D"/>
                </a:solidFill>
                <a:latin typeface="Times New Roman"/>
              </a:defRPr>
            </a:pPr>
            <a:r>
              <a:t>Team Progress Analysis &amp; Work Audit</a:t>
            </a:r>
          </a:p>
          <a:p>
            <a:pPr>
              <a:spcBef>
                <a:spcPts val="1400"/>
              </a:spcBef>
              <a:defRPr sz="2200">
                <a:solidFill>
                  <a:srgbClr val="323232"/>
                </a:solidFill>
                <a:latin typeface="Times New Roman"/>
              </a:defRPr>
            </a:pPr>
            <a:r>
              <a:t>Institutional ERP System Development (Week 03 / Week 04)</a:t>
            </a:r>
          </a:p>
          <a:p>
            <a:pPr>
              <a:spcBef>
                <a:spcPts val="3000"/>
              </a:spcBef>
              <a:defRPr sz="1800" i="1">
                <a:solidFill>
                  <a:srgbClr val="323232"/>
                </a:solidFill>
                <a:latin typeface="Times New Roman"/>
              </a:defRPr>
            </a:pPr>
            <a:r>
              <a:t>Prepared by: Lakshya </a:t>
            </a:r>
            <a:r>
              <a:rPr/>
              <a:t>Singhal 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B365D"/>
                </a:solidFill>
                <a:latin typeface="Times New Roman"/>
              </a:defRPr>
            </a:pPr>
            <a:r>
              <a:t>Work Analysis Overview — Prashant Jain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323232"/>
                </a:solidFill>
                <a:latin typeface="Times New Roman"/>
              </a:rPr>
              <a:t>Assigned Domain: </a:t>
            </a:r>
            <a:r>
              <a:rPr sz="1800">
                <a:solidFill>
                  <a:srgbClr val="323232"/>
                </a:solidFill>
                <a:latin typeface="Times New Roman"/>
              </a:rPr>
              <a:t> Academic &amp; Institutional Backend Modules.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323232"/>
                </a:solidFill>
                <a:latin typeface="Times New Roman"/>
              </a:rPr>
              <a:t>Audit Objective: </a:t>
            </a:r>
            <a:r>
              <a:rPr sz="1800">
                <a:solidFill>
                  <a:srgbClr val="323232"/>
                </a:solidFill>
                <a:latin typeface="Times New Roman"/>
              </a:rPr>
              <a:t> Cross-examine assigned tasks against logged progress in the Developer Diary (dev_diary.md).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323232"/>
                </a:solidFill>
                <a:latin typeface="Times New Roman"/>
              </a:rPr>
              <a:t>Key Summary Findings: 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323232"/>
                </a:solidFill>
                <a:latin typeface="Times New Roman"/>
              </a:rPr>
              <a:t>  • Execution Alignment: </a:t>
            </a:r>
            <a:r>
              <a:rPr sz="1800">
                <a:solidFill>
                  <a:srgbClr val="323232"/>
                </a:solidFill>
                <a:latin typeface="Times New Roman"/>
              </a:rPr>
              <a:t> Core assigned modules (Campus, Department, Academic Year) were completed.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323232"/>
                </a:solidFill>
                <a:latin typeface="Times New Roman"/>
              </a:rPr>
              <a:t>  • Schedule Shifts: </a:t>
            </a:r>
            <a:r>
              <a:rPr sz="1800">
                <a:solidFill>
                  <a:srgbClr val="323232"/>
                </a:solidFill>
                <a:latin typeface="Times New Roman"/>
              </a:rPr>
              <a:t> Significant timing differences exist between the task assignment tracker and logged execution.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323232"/>
                </a:solidFill>
                <a:latin typeface="Times New Roman"/>
              </a:rPr>
              <a:t>  • Deliverable Deviations: </a:t>
            </a:r>
            <a:r>
              <a:rPr sz="1800">
                <a:solidFill>
                  <a:srgbClr val="323232"/>
                </a:solidFill>
                <a:latin typeface="Times New Roman"/>
              </a:rPr>
              <a:t> Architectural changes and additional database migrations occurred during Day 01 setup.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B365D"/>
                </a:solidFill>
                <a:latin typeface="Times New Roman"/>
              </a:defRPr>
            </a:pPr>
            <a:r>
              <a:t>Prashant Jain — Assigned vs. Actual Execution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371600"/>
          <a:ext cx="1069848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2560320"/>
                <a:gridCol w="3383280"/>
                <a:gridCol w="3657600"/>
              </a:tblGrid>
              <a:tr h="679268">
                <a:tc>
                  <a:txBody>
                    <a:bodyPr/>
                    <a:lstStyle/>
                    <a:p>
                      <a:pPr>
                        <a:defRPr sz="1400" b="1">
                          <a:latin typeface="Times New Roman"/>
                        </a:defRPr>
                      </a:pPr>
                      <a:r>
                        <a:t>Day</a:t>
                      </a:r>
                    </a:p>
                  </a:txBody>
                  <a:tcP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latin typeface="Times New Roman"/>
                        </a:defRPr>
                      </a:pPr>
                      <a:r>
                        <a:t>Assigned Task (Tracker)</a:t>
                      </a:r>
                    </a:p>
                  </a:txBody>
                  <a:tcP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latin typeface="Times New Roman"/>
                        </a:defRPr>
                      </a:pPr>
                      <a:r>
                        <a:t>Actual Logged Activity (Dev Diary)</a:t>
                      </a:r>
                    </a:p>
                  </a:txBody>
                  <a:tcP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latin typeface="Times New Roman"/>
                        </a:defRPr>
                      </a:pPr>
                      <a:r>
                        <a:t>Audit / Status</a:t>
                      </a:r>
                    </a:p>
                  </a:txBody>
                  <a:tcPr>
                    <a:solidFill>
                      <a:srgbClr val="E6E6E6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>
                        <a:defRPr sz="1300">
                          <a:latin typeface="Times New Roman"/>
                        </a:defRPr>
                      </a:pPr>
                      <a:r>
                        <a:t>Day 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Times New Roman"/>
                        </a:defRPr>
                      </a:pPr>
                      <a:r>
                        <a:t>Institution Schema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Times New Roman"/>
                        </a:defRPr>
                      </a:pPr>
                      <a:r>
                        <a:t>Architecture Reset &amp; Global Exception Handler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Times New Roman"/>
                        </a:defRPr>
                      </a:pPr>
                      <a:r>
                        <a:t>Deviated: Base setup focused; V1 schema added.</a:t>
                      </a:r>
                    </a:p>
                  </a:txBody>
                  <a:tcPr/>
                </a:tc>
              </a:tr>
              <a:tr h="679268">
                <a:tc>
                  <a:txBody>
                    <a:bodyPr/>
                    <a:lstStyle/>
                    <a:p>
                      <a:pPr>
                        <a:defRPr sz="1300">
                          <a:latin typeface="Times New Roman"/>
                        </a:defRPr>
                      </a:pPr>
                      <a:r>
                        <a:t>Day 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Times New Roman"/>
                        </a:defRPr>
                      </a:pPr>
                      <a:r>
                        <a:t>Campus Management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Times New Roman"/>
                        </a:defRPr>
                      </a:pPr>
                      <a:r>
                        <a:t>Campus CRUD &amp; Migration (V2 SQL)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Times New Roman"/>
                        </a:defRPr>
                      </a:pPr>
                      <a:r>
                        <a:t>Completed: Aligned with domain.</a:t>
                      </a:r>
                    </a:p>
                  </a:txBody>
                  <a:tcPr/>
                </a:tc>
              </a:tr>
              <a:tr h="679268">
                <a:tc>
                  <a:txBody>
                    <a:bodyPr/>
                    <a:lstStyle/>
                    <a:p>
                      <a:pPr>
                        <a:defRPr sz="1300">
                          <a:latin typeface="Times New Roman"/>
                        </a:defRPr>
                      </a:pPr>
                      <a:r>
                        <a:t>Day 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Times New Roman"/>
                        </a:defRPr>
                      </a:pPr>
                      <a:r>
                        <a:t>Department Management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Times New Roman"/>
                        </a:defRPr>
                      </a:pPr>
                      <a:r>
                        <a:t>Department CRUD &amp; Migration (V3 SQL)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Times New Roman"/>
                        </a:defRPr>
                      </a:pPr>
                      <a:r>
                        <a:t>Completed: Aligned with domain.</a:t>
                      </a:r>
                    </a:p>
                  </a:txBody>
                  <a:tcPr/>
                </a:tc>
              </a:tr>
              <a:tr h="679268">
                <a:tc>
                  <a:txBody>
                    <a:bodyPr/>
                    <a:lstStyle/>
                    <a:p>
                      <a:pPr>
                        <a:defRPr sz="1300">
                          <a:latin typeface="Times New Roman"/>
                        </a:defRPr>
                      </a:pPr>
                      <a:r>
                        <a:t>Day 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Times New Roman"/>
                        </a:defRPr>
                      </a:pPr>
                      <a:r>
                        <a:t>Academic 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Times New Roman"/>
                        </a:defRPr>
                      </a:pPr>
                      <a:r>
                        <a:t>AcademicYear CRUD &amp; Migration (V4 SQL)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Times New Roman"/>
                        </a:defRPr>
                      </a:pPr>
                      <a:r>
                        <a:t>Completed: Package naming resolved.</a:t>
                      </a:r>
                    </a:p>
                  </a:txBody>
                  <a:tcPr/>
                </a:tc>
              </a:tr>
              <a:tr h="679268">
                <a:tc>
                  <a:txBody>
                    <a:bodyPr/>
                    <a:lstStyle/>
                    <a:p>
                      <a:pPr>
                        <a:defRPr sz="1300">
                          <a:latin typeface="Times New Roman"/>
                        </a:defRPr>
                      </a:pPr>
                      <a:r>
                        <a:t>Day 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Times New Roman"/>
                        </a:defRPr>
                      </a:pPr>
                      <a:r>
                        <a:t>Halt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Times New Roman"/>
                        </a:defRPr>
                      </a:pPr>
                      <a:r>
                        <a:t>Semester CRUD &amp; Migration (V5 SQL)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Times New Roman"/>
                        </a:defRPr>
                      </a:pPr>
                      <a:r>
                        <a:t>Completed: Executed during planned halt.</a:t>
                      </a:r>
                    </a:p>
                  </a:txBody>
                  <a:tcPr/>
                </a:tc>
              </a:tr>
              <a:tr h="679272">
                <a:tc>
                  <a:txBody>
                    <a:bodyPr/>
                    <a:lstStyle/>
                    <a:p>
                      <a:pPr>
                        <a:defRPr sz="1300">
                          <a:latin typeface="Times New Roman"/>
                        </a:defRPr>
                      </a:pPr>
                      <a:r>
                        <a:t>Day 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Times New Roman"/>
                        </a:defRPr>
                      </a:pPr>
                      <a:r>
                        <a:t>Halt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Times New Roman"/>
                        </a:defRPr>
                      </a:pPr>
                      <a:r>
                        <a:t>Program &amp; Batch CRUD (V6, V7 SQL)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Times New Roman"/>
                        </a:defRPr>
                      </a:pPr>
                      <a:r>
                        <a:t>Completed: Executed during planned halt.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B365D"/>
                </a:solidFill>
                <a:latin typeface="Times New Roman"/>
              </a:defRPr>
            </a:pPr>
            <a:r>
              <a:t>Prashant Jain — Discrepancies &amp; Work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Bef>
                <a:spcPts val="1000"/>
              </a:spcBef>
            </a:pPr>
            <a:r>
              <a:rPr sz="1700" b="1">
                <a:solidFill>
                  <a:srgbClr val="1B365D"/>
                </a:solidFill>
                <a:latin typeface="Times New Roman"/>
              </a:rPr>
              <a:t>1. Documentation Reporting vs. Logged Output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323232"/>
                </a:solidFill>
                <a:latin typeface="Times New Roman"/>
              </a:rPr>
              <a:t>The tracking sheet logs 'Delayed' for documentation across Days 02–04, whereas dev_diary.md contains detailed package mappings, problem statements, and solutions.</a:t>
            </a:r>
          </a:p>
          <a:p>
            <a:pPr>
              <a:spcBef>
                <a:spcPts val="1000"/>
              </a:spcBef>
            </a:pPr>
            <a:r>
              <a:rPr sz="1700" b="1">
                <a:solidFill>
                  <a:srgbClr val="1B365D"/>
                </a:solidFill>
                <a:latin typeface="Times New Roman"/>
              </a:rPr>
              <a:t>2. Code Submission Status on Day 01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323232"/>
                </a:solidFill>
                <a:latin typeface="Times New Roman"/>
              </a:rPr>
              <a:t>Tracker marks Day 01 Code Submission as 'null', but the Developer Diary documents a full architecture reset, monorepo backend creation, and GlobalExceptionHandler setup.</a:t>
            </a:r>
          </a:p>
          <a:p>
            <a:pPr>
              <a:spcBef>
                <a:spcPts val="1000"/>
              </a:spcBef>
            </a:pPr>
            <a:r>
              <a:rPr sz="1700" b="1">
                <a:solidFill>
                  <a:srgbClr val="1B365D"/>
                </a:solidFill>
                <a:latin typeface="Times New Roman"/>
              </a:rPr>
              <a:t>3. Schedule &amp; Phase Misalignment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323232"/>
                </a:solidFill>
                <a:latin typeface="Times New Roman"/>
              </a:rPr>
              <a:t>The task breakdown assigns Semester, Program, Course, and Curriculum to Week 04. However, dev_diary.md records Semester, Program, and Batch as completed in Days 05–06 of Week 03.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B365D"/>
                </a:solidFill>
                <a:latin typeface="Times New Roman"/>
              </a:defRPr>
            </a:pPr>
            <a:r>
              <a:t>My Work &amp; Deliverables — Lakshya Singhal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27699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1200"/>
              </a:spcAft>
            </a:pPr>
            <a:r>
              <a:rPr sz="1800" b="1" smtClean="0">
                <a:solidFill>
                  <a:srgbClr val="323232"/>
                </a:solidFill>
                <a:latin typeface="Times New Roman"/>
              </a:rPr>
              <a:t>Core </a:t>
            </a:r>
            <a:r>
              <a:rPr sz="1800" b="1">
                <a:solidFill>
                  <a:srgbClr val="323232"/>
                </a:solidFill>
                <a:latin typeface="Times New Roman"/>
              </a:rPr>
              <a:t>Architectural Achievements (Days 01 – 06):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323232"/>
                </a:solidFill>
                <a:latin typeface="Times New Roman"/>
              </a:rPr>
              <a:t>  • Enterprise Foundation:</a:t>
            </a:r>
            <a:r>
              <a:rPr sz="1800">
                <a:solidFill>
                  <a:srgbClr val="323232"/>
                </a:solidFill>
                <a:latin typeface="Times New Roman"/>
              </a:rPr>
              <a:t> Built a complete frontend architecture using React 19, TypeScript 5.9, Vite 5, and Tailwind CSS 3.4.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323232"/>
                </a:solidFill>
                <a:latin typeface="Times New Roman"/>
              </a:rPr>
              <a:t>  • Codebase Volume:</a:t>
            </a:r>
            <a:r>
              <a:rPr sz="1800">
                <a:solidFill>
                  <a:srgbClr val="323232"/>
                </a:solidFill>
                <a:latin typeface="Times New Roman"/>
              </a:rPr>
              <a:t> Engineered 140 fully implemented source files containing 9,763 lines of clean TypeScript code.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323232"/>
                </a:solidFill>
                <a:latin typeface="Times New Roman"/>
              </a:rPr>
              <a:t>  • Verified Build Quality:</a:t>
            </a:r>
            <a:r>
              <a:rPr sz="1800">
                <a:solidFill>
                  <a:srgbClr val="323232"/>
                </a:solidFill>
                <a:latin typeface="Times New Roman"/>
              </a:rPr>
              <a:t> Production build (npm run build) completed with Exit Code 0 across 2,755 transformed modules and 0 compiler errors.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B365D"/>
                </a:solidFill>
                <a:latin typeface="Times New Roman"/>
              </a:defRPr>
            </a:pPr>
            <a:r>
              <a:t>Lakshya Singhal — System Architecture &amp; Components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Bef>
                <a:spcPts val="800"/>
              </a:spcBef>
            </a:pPr>
            <a:r>
              <a:rPr sz="1700" b="1">
                <a:solidFill>
                  <a:srgbClr val="1B365D"/>
                </a:solidFill>
                <a:latin typeface="Times New Roman"/>
              </a:rPr>
              <a:t>• Design System &amp; Layout Shell: </a:t>
            </a:r>
            <a:r>
              <a:rPr sz="1600">
                <a:solidFill>
                  <a:srgbClr val="323232"/>
                </a:solidFill>
                <a:latin typeface="Times New Roman"/>
              </a:rPr>
              <a:t>Implemented AppLayout, Sidebar, Topbar, design tokens (colors, typography), and Cmd+K Global Search modal.</a:t>
            </a:r>
          </a:p>
          <a:p>
            <a:pPr>
              <a:spcBef>
                <a:spcPts val="800"/>
              </a:spcBef>
            </a:pPr>
            <a:r>
              <a:rPr sz="1700" b="1">
                <a:solidFill>
                  <a:srgbClr val="1B365D"/>
                </a:solidFill>
                <a:latin typeface="Times New Roman"/>
              </a:rPr>
              <a:t>• Centralized API &amp; Interceptor Hub: </a:t>
            </a:r>
            <a:r>
              <a:rPr sz="1600">
                <a:solidFill>
                  <a:srgbClr val="323232"/>
                </a:solidFill>
                <a:latin typeface="Times New Roman"/>
              </a:rPr>
              <a:t>Axios client with JWT bearer injection, correlation IDs, status error mapping (200-504), and a 401 silent token refresh queue to handle race conditions.</a:t>
            </a:r>
          </a:p>
          <a:p>
            <a:pPr>
              <a:spcBef>
                <a:spcPts val="800"/>
              </a:spcBef>
            </a:pPr>
            <a:r>
              <a:rPr sz="1700" b="1">
                <a:solidFill>
                  <a:srgbClr val="1B365D"/>
                </a:solidFill>
                <a:latin typeface="Times New Roman"/>
              </a:rPr>
              <a:t>• Enterprise Form &amp; Validation Engine: </a:t>
            </a:r>
            <a:r>
              <a:rPr sz="1600">
                <a:solidFill>
                  <a:srgbClr val="323232"/>
                </a:solidFill>
                <a:latin typeface="Times New Roman"/>
              </a:rPr>
              <a:t>React Hook Form + Zod validation, dependent select fields, autosave, dirty state tracking, and normalized error formatters.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B365D"/>
                </a:solidFill>
                <a:latin typeface="Times New Roman"/>
              </a:defRPr>
            </a:pPr>
            <a:r>
              <a:t>Lakshya Singhal — Week 03 / Week 04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323232"/>
                </a:solidFill>
                <a:latin typeface="Times New Roman"/>
              </a:rPr>
              <a:t>Day 01 — Advanced Data Management:</a:t>
            </a:r>
            <a:r>
              <a:rPr sz="1600">
                <a:solidFill>
                  <a:srgbClr val="323232"/>
                </a:solidFill>
                <a:latin typeface="Times New Roman"/>
              </a:rPr>
              <a:t> API client abstractions, loading/error states, and server-side table hook (useServerTable).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323232"/>
                </a:solidFill>
                <a:latin typeface="Times New Roman"/>
              </a:rPr>
              <a:t>Day 02 — Frontend-Backend Integration:</a:t>
            </a:r>
            <a:r>
              <a:rPr sz="1600">
                <a:solidFill>
                  <a:srgbClr val="323232"/>
                </a:solidFill>
                <a:latin typeface="Times New Roman"/>
              </a:rPr>
              <a:t> Direct Spring Boot REST API integration, environment configuration, and token handling.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323232"/>
                </a:solidFill>
                <a:latin typeface="Times New Roman"/>
              </a:rPr>
              <a:t>Day 03 — Student Module UI:</a:t>
            </a:r>
            <a:r>
              <a:rPr sz="1600">
                <a:solidFill>
                  <a:srgbClr val="323232"/>
                </a:solidFill>
                <a:latin typeface="Times New Roman"/>
              </a:rPr>
              <a:t> Complete UI screens for Student Dashboard, Student CRUD, and Student Status lifecycle.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323232"/>
                </a:solidFill>
                <a:latin typeface="Times New Roman"/>
              </a:rPr>
              <a:t>Day 04 — Institution Module UI:</a:t>
            </a:r>
            <a:r>
              <a:rPr sz="1600">
                <a:solidFill>
                  <a:srgbClr val="323232"/>
                </a:solidFill>
                <a:latin typeface="Times New Roman"/>
              </a:rPr>
              <a:t> Management UI for Institution, Campus, and Department entries.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323232"/>
                </a:solidFill>
                <a:latin typeface="Times New Roman"/>
              </a:rPr>
              <a:t>Day 05–06 — Reusable Forms &amp; DataTables:</a:t>
            </a:r>
            <a:r>
              <a:rPr sz="1600">
                <a:solidFill>
                  <a:srgbClr val="323232"/>
                </a:solidFill>
                <a:latin typeface="Times New Roman"/>
              </a:rPr>
              <a:t> Dynamic field validation, server-side pagination, multi-column sorting, and instant CSV exports.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B365D"/>
                </a:solidFill>
                <a:latin typeface="Times New Roman"/>
              </a:defRPr>
            </a:pPr>
            <a:r>
              <a:t>Summary &amp; Project Readiness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Bef>
                <a:spcPts val="1000"/>
              </a:spcBef>
            </a:pPr>
            <a:r>
              <a:rPr sz="1800" b="1">
                <a:solidFill>
                  <a:srgbClr val="1B365D"/>
                </a:solidFill>
                <a:latin typeface="Times New Roman"/>
              </a:rPr>
              <a:t>Audit Summary: </a:t>
            </a:r>
            <a:r>
              <a:rPr sz="1700">
                <a:solidFill>
                  <a:srgbClr val="323232"/>
                </a:solidFill>
                <a:latin typeface="Times New Roman"/>
              </a:rPr>
              <a:t> Prashant Jain completed key backend domain modules[cite: 5], though timing and documentation entries showed variations between tracking logs[cite: 8] and Developer Diary entries[cite: 5].</a:t>
            </a:r>
          </a:p>
          <a:p>
            <a:pPr>
              <a:spcBef>
                <a:spcPts val="1000"/>
              </a:spcBef>
            </a:pPr>
            <a:r>
              <a:rPr sz="1800" b="1">
                <a:solidFill>
                  <a:srgbClr val="1B365D"/>
                </a:solidFill>
                <a:latin typeface="Times New Roman"/>
              </a:rPr>
              <a:t>Frontend Readiness: </a:t>
            </a:r>
            <a:r>
              <a:rPr sz="1700">
                <a:solidFill>
                  <a:srgbClr val="323232"/>
                </a:solidFill>
                <a:latin typeface="Times New Roman"/>
              </a:rPr>
              <a:t> Core frontend architecture (Lakshya Singhal) is 100% built, compiled with zero errors, and ready for full REST API integration[cite: 7].</a:t>
            </a:r>
          </a:p>
          <a:p>
            <a:pPr>
              <a:spcBef>
                <a:spcPts val="1000"/>
              </a:spcBef>
            </a:pPr>
            <a:r>
              <a:rPr sz="1800" b="1">
                <a:solidFill>
                  <a:srgbClr val="1B365D"/>
                </a:solidFill>
                <a:latin typeface="Times New Roman"/>
              </a:rPr>
              <a:t>Next Steps: </a:t>
            </a:r>
            <a:r>
              <a:rPr sz="1700">
                <a:solidFill>
                  <a:srgbClr val="323232"/>
                </a:solidFill>
                <a:latin typeface="Times New Roman"/>
              </a:rPr>
              <a:t> Connect Spring Boot services to frontend API client hooks and execute full end-to-end integration testing[cite: 6, 7].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751</Words>
  <Application>Microsoft Macintosh PowerPoint</Application>
  <PresentationFormat>Custom</PresentationFormat>
  <Paragraphs>71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Manager/>
  <Company/>
  <LinksUpToDate>false</LinksUpToDate>
  <SharedDoc>false</SharedDoc>
  <HyperlinkBase/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subject/>
  <dc:creator/>
  <cp:keywords/>
  <dc:description>generated using python-pptx</dc:description>
  <cp:lastModifiedBy>LAKSHYA SINGHAL</cp:lastModifiedBy>
  <cp:revision>2</cp:revision>
  <dcterms:created xsi:type="dcterms:W3CDTF">2013-01-27T09:14:16Z</dcterms:created>
  <dcterms:modified xsi:type="dcterms:W3CDTF">2026-09-27T12:58:25Z</dcterms:modified>
  <cp:category/>
</cp:coreProperties>
</file>